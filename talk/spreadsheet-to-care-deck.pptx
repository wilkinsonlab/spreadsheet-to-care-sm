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 spc="150">
                <a:solidFill>
                  <a:srgbClr val="C1652B"/>
                </a:solidFill>
                <a:latin typeface="Consolas"/>
              </a:rPr>
              <a:t>SIMPATHIC · NMDO · CARE-SM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C2024"/>
                </a:solidFill>
                <a:latin typeface="Calibri"/>
              </a:rPr>
              <a:t>From registry spreadsheet</a:t>
            </a: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C2024"/>
                </a:solidFill>
                <a:latin typeface="Calibri"/>
              </a:rPr>
              <a:t>to CARE-SM 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B6168"/>
                </a:solidFill>
                <a:latin typeface="Calibri"/>
              </a:rPr>
              <a:t>Heuristically mapping raw clinical CSV exports onto a controlled semantic model — automatically where it's safe, deferring to a human everywhere it isn't.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960120" cy="384048"/>
          </a:xfrm>
          <a:prstGeom prst="roundRect">
            <a:avLst>
              <a:gd name="adj" fmla="val 35000"/>
            </a:avLst>
          </a:prstGeom>
          <a:noFill/>
          <a:ln w="12700">
            <a:solidFill>
              <a:srgbClr val="B8B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9198"/>
                </a:solidFill>
                <a:latin typeface="Consolas"/>
              </a:rPr>
              <a:t>raw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4160520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B8B2A4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160520"/>
            <a:ext cx="859536" cy="384048"/>
          </a:xfrm>
          <a:prstGeom prst="roundRect">
            <a:avLst>
              <a:gd name="adj" fmla="val 35000"/>
            </a:avLst>
          </a:prstGeom>
          <a:noFill/>
          <a:ln w="12700">
            <a:solidFill>
              <a:srgbClr val="B8B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9198"/>
                </a:solidFill>
                <a:latin typeface="Consolas"/>
              </a:rP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776" y="4160520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B8B2A4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9816" y="4160520"/>
            <a:ext cx="1764792" cy="384048"/>
          </a:xfrm>
          <a:prstGeom prst="roundRect">
            <a:avLst>
              <a:gd name="adj" fmla="val 35000"/>
            </a:avLst>
          </a:prstGeom>
          <a:noFill/>
          <a:ln w="12700">
            <a:solidFill>
              <a:srgbClr val="B8B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9198"/>
                </a:solidFill>
                <a:latin typeface="Consolas"/>
              </a:rPr>
              <a:t>ontology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4160520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B8B2A4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4648" y="4160520"/>
            <a:ext cx="1060704" cy="384048"/>
          </a:xfrm>
          <a:prstGeom prst="roundRect">
            <a:avLst>
              <a:gd name="adj" fmla="val 35000"/>
            </a:avLst>
          </a:prstGeom>
          <a:noFill/>
          <a:ln w="12700">
            <a:solidFill>
              <a:srgbClr val="B8B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9198"/>
                </a:solidFill>
                <a:latin typeface="Consolas"/>
              </a:rPr>
              <a:t>curation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4160520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B8B2A4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4160520"/>
            <a:ext cx="1362456" cy="384048"/>
          </a:xfrm>
          <a:prstGeom prst="roundRect">
            <a:avLst>
              <a:gd name="adj" fmla="val 35000"/>
            </a:avLst>
          </a:prstGeom>
          <a:noFill/>
          <a:ln w="12700">
            <a:solidFill>
              <a:srgbClr val="B8B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9198"/>
                </a:solidFill>
                <a:latin typeface="Consolas"/>
              </a:rPr>
              <a:t>CARE-SM RDF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C2024"/>
                </a:solidFill>
                <a:latin typeface="Calibri"/>
              </a:rPr>
              <a:t>Mark Wilkinson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168"/>
                </a:solidFill>
                <a:latin typeface="Calibri"/>
              </a:rPr>
              <a:t>CARE-SM co-author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0749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C2024"/>
                </a:solidFill>
                <a:latin typeface="Calibri"/>
              </a:rPr>
              <a:t>2 datasets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349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168"/>
                </a:solidFill>
                <a:latin typeface="Calibri"/>
              </a:rPr>
              <a:t>90 patients, partner + adversarial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0749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C2024"/>
                </a:solidFill>
                <a:latin typeface="Calibri"/>
              </a:rPr>
              <a:t>7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3492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168"/>
                </a:solidFill>
                <a:latin typeface="Calibri"/>
              </a:rPr>
              <a:t>Phenotype · Diagnosis · Sex · Status · Birthdate · Deathdate · Symptoms_onset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noFill/>
          <a:ln w="1778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1652B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 spc="120">
                <a:solidFill>
                  <a:srgbClr val="C1652B"/>
                </a:solidFill>
                <a:latin typeface="Consolas"/>
              </a:rPr>
              <a:t>WHAT CHANGED IN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024"/>
                </a:solidFill>
                <a:latin typeface="Calibri"/>
              </a:rPr>
              <a:t>CARE-SM v2 makes absence a 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168"/>
                </a:solidFill>
                <a:latin typeface="Calibri"/>
              </a:rPr>
              <a:t>The single semantic change that mattered most for this pipeline: a Yes/No clinical flag becomes an observation with a value, not a note that's only written down when positive.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2103120"/>
            <a:ext cx="0" cy="3931920"/>
          </a:xfrm>
          <a:prstGeom prst="line">
            <a:avLst/>
          </a:prstGeom>
          <a:ln w="12700">
            <a:solidFill>
              <a:srgbClr val="D8D4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488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A8443C"/>
                </a:solidFill>
                <a:latin typeface="Calibri"/>
              </a:rPr>
              <a:t>v1 — positive findings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1C2024"/>
                </a:solidFill>
                <a:latin typeface="Calibri"/>
              </a:rPr>
              <a:t>Process_</a:t>
            </a:r>
          </a:p>
          <a:p>
            <a:pPr algn="ctr"/>
            <a:r>
              <a:rPr sz="1000">
                <a:solidFill>
                  <a:srgbClr val="8B9198"/>
                </a:solidFill>
                <a:latin typeface="Consolas"/>
              </a:rPr>
              <a:t>tests for cardiomyopathy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3154680"/>
            <a:ext cx="0" cy="256032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41071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1C2024"/>
                </a:solidFill>
                <a:latin typeface="Calibri"/>
              </a:rPr>
              <a:t>Output_</a:t>
            </a:r>
          </a:p>
          <a:p>
            <a:pPr algn="ctr"/>
            <a:r>
              <a:rPr sz="1000">
                <a:solidFill>
                  <a:srgbClr val="8B9198"/>
                </a:solidFill>
                <a:latin typeface="Consolas"/>
              </a:rPr>
              <a:t>asserts a result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959352"/>
            <a:ext cx="0" cy="256032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4215384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1C2024"/>
                </a:solidFill>
                <a:latin typeface="Calibri"/>
              </a:rPr>
              <a:t>Attribute_</a:t>
            </a:r>
          </a:p>
          <a:p>
            <a:pPr algn="ctr"/>
            <a:r>
              <a:rPr sz="1000">
                <a:solidFill>
                  <a:srgbClr val="8B9198"/>
                </a:solidFill>
                <a:latin typeface="Consolas"/>
              </a:rPr>
              <a:t>HP_0001638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840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5B6168"/>
                </a:solidFill>
                <a:latin typeface="Calibri"/>
              </a:rPr>
              <a:t>confirmed-absent case: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76672"/>
            <a:ext cx="3291840" cy="502920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A8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A8443C"/>
                </a:solidFill>
                <a:latin typeface="Calibri"/>
              </a:rPr>
              <a:t>(unrecordable)</a:t>
            </a:r>
          </a:p>
          <a:p>
            <a:pPr algn="ctr"/>
            <a:r>
              <a:rPr sz="1000">
                <a:solidFill>
                  <a:srgbClr val="A8443C"/>
                </a:solidFill>
                <a:latin typeface="Consolas"/>
              </a:rPr>
              <a:t>cardiomyopathy: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4F7A5C"/>
                </a:solidFill>
                <a:latin typeface="Calibri"/>
              </a:rPr>
              <a:t>v2 — tested vs. found, always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606040"/>
            <a:ext cx="19659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1C2024"/>
                </a:solidFill>
                <a:latin typeface="Calibri"/>
              </a:rPr>
              <a:t>Process_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38060" y="3108960"/>
            <a:ext cx="0" cy="201168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55080" y="3310128"/>
            <a:ext cx="19659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1C2024"/>
                </a:solidFill>
                <a:latin typeface="Calibri"/>
              </a:rPr>
              <a:t>Target_</a:t>
            </a:r>
          </a:p>
          <a:p>
            <a:pPr algn="ctr"/>
            <a:r>
              <a:rPr sz="950">
                <a:solidFill>
                  <a:srgbClr val="8B9198"/>
                </a:solidFill>
                <a:latin typeface="Consolas"/>
              </a:rPr>
              <a:t>HP_0001638 (tested)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2606040"/>
            <a:ext cx="19659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1C2024"/>
                </a:solidFill>
                <a:latin typeface="Calibri"/>
              </a:rPr>
              <a:t>Output_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1040" y="2857500"/>
            <a:ext cx="320040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24060" y="3108960"/>
            <a:ext cx="0" cy="201168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41080" y="3310128"/>
            <a:ext cx="19659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1C2024"/>
                </a:solidFill>
                <a:latin typeface="Calibri"/>
              </a:rPr>
              <a:t>has value</a:t>
            </a:r>
          </a:p>
          <a:p>
            <a:pPr algn="ctr"/>
            <a:r>
              <a:rPr sz="950">
                <a:solidFill>
                  <a:srgbClr val="8B9198"/>
                </a:solidFill>
                <a:latin typeface="Consolas"/>
              </a:rPr>
              <a:t>true / false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24060" y="3813048"/>
            <a:ext cx="1143000" cy="457200"/>
          </a:xfrm>
          <a:prstGeom prst="line">
            <a:avLst/>
          </a:prstGeom>
          <a:ln w="15875">
            <a:solidFill>
              <a:srgbClr val="4F7A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481060" y="3813048"/>
            <a:ext cx="1143000" cy="457200"/>
          </a:xfrm>
          <a:prstGeom prst="line">
            <a:avLst/>
          </a:prstGeom>
          <a:ln w="15875">
            <a:solidFill>
              <a:srgbClr val="A844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75520" y="4297680"/>
            <a:ext cx="17830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C2024"/>
                </a:solidFill>
                <a:latin typeface="Calibri"/>
              </a:rPr>
              <a:t>Attribute_ emitted</a:t>
            </a:r>
          </a:p>
          <a:p>
            <a:pPr algn="ctr"/>
            <a:r>
              <a:rPr sz="850">
                <a:solidFill>
                  <a:srgbClr val="8B9198"/>
                </a:solidFill>
                <a:latin typeface="Consolas"/>
              </a:rPr>
              <a:t>HP_0001638 asserted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4297680"/>
            <a:ext cx="1783080" cy="566928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A8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A8443C"/>
                </a:solidFill>
                <a:latin typeface="Calibri"/>
              </a:rPr>
              <a:t>no Attribute_</a:t>
            </a:r>
          </a:p>
          <a:p>
            <a:pPr algn="ctr"/>
            <a:r>
              <a:rPr sz="850">
                <a:solidFill>
                  <a:srgbClr val="A8443C"/>
                </a:solidFill>
                <a:latin typeface="Consolas"/>
              </a:rPr>
              <a:t>fact still queryable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2780" y="3840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4F7A5C"/>
                </a:solidFill>
                <a:latin typeface="Consolas"/>
              </a:rPr>
              <a:t>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0980" y="384048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 i="0">
                <a:solidFill>
                  <a:srgbClr val="A8443C"/>
                </a:solidFill>
                <a:latin typeface="Consolas"/>
              </a:rPr>
              <a:t>false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B6168"/>
                </a:solidFill>
                <a:latin typeface="Calibri"/>
              </a:rPr>
              <a:t>Partner data, Phenotype rows:  18 → 120 — 102 confirmed-absent findings recovered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noFill/>
          <a:ln w="1778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1652B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 spc="120">
                <a:solidFill>
                  <a:srgbClr val="C1652B"/>
                </a:solidFill>
                <a:latin typeface="Consolas"/>
              </a:rPr>
              <a:t>PIPELINE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024"/>
                </a:solidFill>
                <a:latin typeface="Calibri"/>
              </a:rPr>
              <a:t>Three speculations, none survived unmodified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168"/>
                </a:solidFill>
                <a:latin typeface="Calibri"/>
              </a:rPr>
              <a:t>The original proposal: if sampled cell values hit an ontology, the column is mappable, and the ontology branch tells you which CARE-SM model it belongs to. Testing it against real data corrected all three.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69464"/>
            <a:ext cx="3008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 spc="100">
                <a:solidFill>
                  <a:srgbClr val="8B9198"/>
                </a:solidFill>
                <a:latin typeface="Consolas"/>
              </a:rPr>
              <a:t>SPECULATION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98648"/>
            <a:ext cx="30083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1C2024"/>
                </a:solidFill>
                <a:latin typeface="Calibri"/>
              </a:rPr>
              <a:t>A column that gets embedding-search “hits” is mappable.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4069080"/>
            <a:ext cx="2057400" cy="329184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C1652B"/>
                </a:solidFill>
                <a:latin typeface="Consolas"/>
              </a:rPr>
              <a:t>true, insufficient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617720"/>
            <a:ext cx="30083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168"/>
                </a:solidFill>
                <a:latin typeface="Calibri"/>
              </a:rPr>
              <a:t>Every query gets a ranked hit — even comments and hospital names. A distractor once outscored a real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3317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2569464"/>
            <a:ext cx="3008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 spc="100">
                <a:solidFill>
                  <a:srgbClr val="8B9198"/>
                </a:solidFill>
                <a:latin typeface="Consolas"/>
              </a:rPr>
              <a:t>SPECULATION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898648"/>
            <a:ext cx="30083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1C2024"/>
                </a:solidFill>
                <a:latin typeface="Calibri"/>
              </a:rPr>
              <a:t>The ontology branch tells you the CARE-SM data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4" y="4069080"/>
            <a:ext cx="2148840" cy="329184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F7A5C"/>
                </a:solidFill>
                <a:latin typeface="Consolas"/>
              </a:rPr>
              <a:t>directionally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4617720"/>
            <a:ext cx="30083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168"/>
                </a:solidFill>
                <a:latin typeface="Calibri"/>
              </a:rPr>
              <a:t>Holds for HPO→Phenotype, MONDO→Diagnosis. Breaks where one vocabulary (NCIT) spans six-plus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23317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2569464"/>
            <a:ext cx="3008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 spc="100">
                <a:solidFill>
                  <a:srgbClr val="8B9198"/>
                </a:solidFill>
                <a:latin typeface="Consolas"/>
              </a:rPr>
              <a:t>SPECULATION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898648"/>
            <a:ext cx="30083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1C2024"/>
                </a:solidFill>
                <a:latin typeface="Calibri"/>
              </a:rPr>
              <a:t>Detect the model, extract its columns, emit a template.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9056" y="4069080"/>
            <a:ext cx="2240280" cy="329184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F7A5C"/>
                </a:solidFill>
                <a:latin typeface="Consolas"/>
              </a:rPr>
              <a:t>confirmed, corrected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4617720"/>
            <a:ext cx="30083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168"/>
                </a:solidFill>
                <a:latin typeface="Calibri"/>
              </a:rPr>
              <a:t>Works — but it's an assembly, not extraction. One output row draws on a cell, a header, another column's date, and external spec knowledge.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noFill/>
          <a:ln w="1778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1652B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 spc="120">
                <a:solidFill>
                  <a:srgbClr val="C1652B"/>
                </a:solidFill>
                <a:latin typeface="Consolas"/>
              </a:rPr>
              <a:t>COLUMN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024"/>
                </a:solidFill>
                <a:latin typeface="Calibri"/>
              </a:rPr>
              <a:t>Cheap, deterministic checks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168"/>
                </a:solidFill>
                <a:latin typeface="Calibri"/>
              </a:rPr>
              <a:t>Nine outcomes, first match wins. Only the last branch reaches semantic search — most columns are settled without ever touching an embedding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12801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1C2024"/>
                </a:solidFill>
                <a:latin typeface="Calibri"/>
              </a:rPr>
              <a:t>column</a:t>
            </a:r>
          </a:p>
          <a:p>
            <a:pPr algn="ctr"/>
            <a:r>
              <a:rPr sz="850">
                <a:solidFill>
                  <a:srgbClr val="8B9198"/>
                </a:solidFill>
                <a:latin typeface="Consolas"/>
              </a:rPr>
              <a:t>sample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365760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C2024"/>
                </a:solidFill>
                <a:latin typeface="Calibri"/>
              </a:rPr>
              <a:t>empty or
export artifact?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268980" y="2971800"/>
            <a:ext cx="0" cy="685800"/>
          </a:xfrm>
          <a:prstGeom prst="line">
            <a:avLst/>
          </a:prstGeom>
          <a:ln w="15875">
            <a:solidFill>
              <a:srgbClr val="A844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14700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A8443C"/>
                </a:solidFill>
                <a:latin typeface="Consolas"/>
              </a:rPr>
              <a:t>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1740" y="242316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A8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A8443C"/>
                </a:solidFill>
                <a:latin typeface="Calibri"/>
              </a:rPr>
              <a:t>DROP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361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no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4000500"/>
            <a:ext cx="384048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98848" y="365760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C2024"/>
                </a:solidFill>
                <a:latin typeface="Calibri"/>
              </a:rPr>
              <a:t>direct
identifier?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344668" y="2971800"/>
            <a:ext cx="0" cy="685800"/>
          </a:xfrm>
          <a:prstGeom prst="line">
            <a:avLst/>
          </a:prstGeom>
          <a:ln w="15875">
            <a:solidFill>
              <a:srgbClr val="A844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90388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A8443C"/>
                </a:solidFill>
                <a:latin typeface="Consolas"/>
              </a:rPr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7428" y="242316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A8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A8443C"/>
                </a:solidFill>
                <a:latin typeface="Calibri"/>
              </a:rPr>
              <a:t>PII —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4361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90488" y="4000500"/>
            <a:ext cx="384048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74536" y="365760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C2024"/>
                </a:solidFill>
                <a:latin typeface="Calibri"/>
              </a:rPr>
              <a:t>patient /
record id?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420356" y="2971800"/>
            <a:ext cx="0" cy="685800"/>
          </a:xfrm>
          <a:prstGeom prst="line">
            <a:avLst/>
          </a:prstGeom>
          <a:ln w="15875">
            <a:solidFill>
              <a:srgbClr val="4F7A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66076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4F7A5C"/>
                </a:solidFill>
                <a:latin typeface="Consolas"/>
              </a:rPr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3116" y="242316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4F7A5C"/>
                </a:solidFill>
                <a:latin typeface="Calibri"/>
              </a:rPr>
              <a:t>KEY to pid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361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no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66176" y="4000500"/>
            <a:ext cx="384048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50224" y="365760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C2024"/>
                </a:solidFill>
                <a:latin typeface="Calibri"/>
              </a:rPr>
              <a:t>already a
CURIE?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496044" y="2971800"/>
            <a:ext cx="0" cy="685800"/>
          </a:xfrm>
          <a:prstGeom prst="line">
            <a:avLst/>
          </a:prstGeom>
          <a:ln w="15875">
            <a:solidFill>
              <a:srgbClr val="4F7A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41764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4F7A5C"/>
                </a:solidFill>
                <a:latin typeface="Consolas"/>
              </a:rP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18804" y="242316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4F7A5C"/>
                </a:solidFill>
                <a:latin typeface="Calibri"/>
              </a:rPr>
              <a:t>CURIE → expand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96044" y="4343400"/>
            <a:ext cx="0" cy="274320"/>
          </a:xfrm>
          <a:prstGeom prst="line">
            <a:avLst/>
          </a:prstGeom>
          <a:ln w="15875">
            <a:solidFill>
              <a:srgbClr val="8B91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440180" y="4617720"/>
            <a:ext cx="8055864" cy="0"/>
          </a:xfrm>
          <a:prstGeom prst="line">
            <a:avLst/>
          </a:prstGeom>
          <a:ln w="15875">
            <a:solidFill>
              <a:srgbClr val="8B91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40180" y="4617720"/>
            <a:ext cx="0" cy="9144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550908" y="4361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70916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C2024"/>
                </a:solidFill>
                <a:latin typeface="Calibri"/>
              </a:rPr>
              <a:t>parses as
a date?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40180" y="5276088"/>
            <a:ext cx="0" cy="292608"/>
          </a:xfrm>
          <a:prstGeom prst="line">
            <a:avLst/>
          </a:prstGeom>
          <a:ln w="15875">
            <a:solidFill>
              <a:srgbClr val="4F7A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85900" y="5294376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4F7A5C"/>
                </a:solidFill>
                <a:latin typeface="Consolas"/>
              </a:rPr>
              <a:t>yes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586984"/>
            <a:ext cx="1417320" cy="502920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4F7A5C"/>
                </a:solidFill>
                <a:latin typeface="Calibri"/>
              </a:rPr>
              <a:t>DATE</a:t>
            </a:r>
          </a:p>
          <a:p>
            <a:pPr algn="ctr"/>
            <a:r>
              <a:rPr sz="800">
                <a:solidFill>
                  <a:srgbClr val="8B9198"/>
                </a:solidFill>
                <a:latin typeface="Consolas"/>
              </a:rPr>
              <a:t>typed by header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240280" y="4992624"/>
            <a:ext cx="292608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67712" y="501091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8B9198"/>
                </a:solidFill>
                <a:latin typeface="Consolas"/>
              </a:rPr>
              <a:t>no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32888" y="470916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C2024"/>
                </a:solidFill>
                <a:latin typeface="Calibri"/>
              </a:rPr>
              <a:t>Yes / No
values?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332988" y="5276088"/>
            <a:ext cx="0" cy="292608"/>
          </a:xfrm>
          <a:prstGeom prst="line">
            <a:avLst/>
          </a:prstGeom>
          <a:ln w="15875">
            <a:solidFill>
              <a:srgbClr val="4F7A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378708" y="5294376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4F7A5C"/>
                </a:solidFill>
                <a:latin typeface="Consolas"/>
              </a:rPr>
              <a:t>yes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24328" y="5586984"/>
            <a:ext cx="1417320" cy="502920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4F7A5C"/>
                </a:solidFill>
                <a:latin typeface="Calibri"/>
              </a:rPr>
              <a:t>BOOLEAN</a:t>
            </a:r>
          </a:p>
          <a:p>
            <a:pPr algn="ctr"/>
            <a:r>
              <a:rPr sz="800">
                <a:solidFill>
                  <a:srgbClr val="8B9198"/>
                </a:solidFill>
                <a:latin typeface="Consolas"/>
              </a:rPr>
              <a:t>header = concept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133088" y="4992624"/>
            <a:ext cx="292608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60520" y="501091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8B9198"/>
                </a:solidFill>
                <a:latin typeface="Consolas"/>
              </a:rPr>
              <a:t>no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25696" y="470916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C2024"/>
                </a:solidFill>
                <a:latin typeface="Calibri"/>
              </a:rPr>
              <a:t>mostly
numeric?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225796" y="5276088"/>
            <a:ext cx="0" cy="292608"/>
          </a:xfrm>
          <a:prstGeom prst="line">
            <a:avLst/>
          </a:prstGeom>
          <a:ln w="15875">
            <a:solidFill>
              <a:srgbClr val="4F7A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71516" y="5294376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4F7A5C"/>
                </a:solidFill>
                <a:latin typeface="Consolas"/>
              </a:rPr>
              <a:t>yes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17136" y="5586984"/>
            <a:ext cx="1417320" cy="502920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4F7A5C"/>
                </a:solidFill>
                <a:latin typeface="Calibri"/>
              </a:rPr>
              <a:t>NUMERIC</a:t>
            </a:r>
          </a:p>
          <a:p>
            <a:pPr algn="ctr"/>
            <a:r>
              <a:rPr sz="800">
                <a:solidFill>
                  <a:srgbClr val="8B9198"/>
                </a:solidFill>
                <a:latin typeface="Consolas"/>
              </a:rPr>
              <a:t>header = measurement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25896" y="4992624"/>
            <a:ext cx="292608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053328" y="501091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8B9198"/>
                </a:solidFill>
                <a:latin typeface="Consolas"/>
              </a:rPr>
              <a:t>no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18504" y="4709160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C2024"/>
                </a:solidFill>
                <a:latin typeface="Calibri"/>
              </a:rPr>
              <a:t>few distinct
values?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118604" y="5276088"/>
            <a:ext cx="0" cy="292608"/>
          </a:xfrm>
          <a:prstGeom prst="line">
            <a:avLst/>
          </a:prstGeom>
          <a:ln w="15875">
            <a:solidFill>
              <a:srgbClr val="4F7A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64324" y="5294376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4F7A5C"/>
                </a:solidFill>
                <a:latin typeface="Consolas"/>
              </a:rPr>
              <a:t>yes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9944" y="5586984"/>
            <a:ext cx="1417320" cy="502920"/>
          </a:xfrm>
          <a:prstGeom prst="roundRect">
            <a:avLst>
              <a:gd name="adj" fmla="val 12000"/>
            </a:avLst>
          </a:prstGeom>
          <a:solidFill>
            <a:srgbClr val="F5F3EE"/>
          </a:solidFill>
          <a:ln w="1778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4F7A5C"/>
                </a:solidFill>
                <a:latin typeface="Calibri"/>
              </a:rPr>
              <a:t>DICTIONARY</a:t>
            </a:r>
          </a:p>
          <a:p>
            <a:pPr algn="ctr"/>
            <a:r>
              <a:rPr sz="800">
                <a:solidFill>
                  <a:srgbClr val="8B9198"/>
                </a:solidFill>
                <a:latin typeface="Consolas"/>
              </a:rPr>
              <a:t>curated lookup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918704" y="4992624"/>
            <a:ext cx="292608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211312" y="4709160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C1652B"/>
          </a:solidFill>
          <a:ln w="1778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SEARCH</a:t>
            </a:r>
          </a:p>
          <a:p>
            <a:pPr algn="ctr"/>
            <a:r>
              <a:rPr sz="850">
                <a:solidFill>
                  <a:srgbClr val="FFEEE2"/>
                </a:solidFill>
                <a:latin typeface="Consolas"/>
              </a:rPr>
              <a:t>semantic match + guard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noFill/>
          <a:ln w="1778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1652B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 spc="120">
                <a:solidFill>
                  <a:srgbClr val="C1652B"/>
                </a:solidFill>
                <a:latin typeface="Consolas"/>
              </a:rPr>
              <a:t>COLUMN TRIAGE — THE SEARCH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024"/>
                </a:solidFill>
                <a:latin typeface="Calibri"/>
              </a:rPr>
              <a:t>A column, not a value, is judged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168"/>
                </a:solidFill>
                <a:latin typeface="Calibri"/>
              </a:rPr>
              <a:t>Sample a column's values, score each against the ontology, and measure what share cleared 0.50. A single value can mislead — a comment about “difficulty walking” once outscored a genuine “foot drop” — but a column's hit-fraction doesn't. Accept only above 60%.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15784" y="2286000"/>
            <a:ext cx="0" cy="3081528"/>
          </a:xfrm>
          <a:prstGeom prst="line">
            <a:avLst/>
          </a:prstGeom>
          <a:ln w="17780">
            <a:solidFill>
              <a:srgbClr val="C165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67144" y="20391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C1652B"/>
                </a:solidFill>
                <a:latin typeface="Consolas"/>
              </a:rPr>
              <a:t>60% cutoff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1" i="0">
                <a:solidFill>
                  <a:srgbClr val="1C2024"/>
                </a:solidFill>
                <a:latin typeface="Calibri"/>
              </a:rPr>
              <a:t>diagnosis (adversarial)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624328"/>
            <a:ext cx="6949440" cy="310896"/>
          </a:xfrm>
          <a:prstGeom prst="roundRect">
            <a:avLst>
              <a:gd name="adj" fmla="val 50000"/>
            </a:avLst>
          </a:prstGeom>
          <a:solidFill>
            <a:srgbClr val="D8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2624328"/>
            <a:ext cx="6949440" cy="310896"/>
          </a:xfrm>
          <a:prstGeom prst="roundRect">
            <a:avLst>
              <a:gd name="adj" fmla="val 50000"/>
            </a:avLst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4F7A5C"/>
                </a:solidFill>
                <a:latin typeface="Consolas"/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19272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1" i="0">
                <a:solidFill>
                  <a:srgbClr val="1C2024"/>
                </a:solidFill>
                <a:latin typeface="Calibri"/>
              </a:rPr>
              <a:t>pheno (adversarial)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337560"/>
            <a:ext cx="6949440" cy="310896"/>
          </a:xfrm>
          <a:prstGeom prst="roundRect">
            <a:avLst>
              <a:gd name="adj" fmla="val 50000"/>
            </a:avLst>
          </a:prstGeom>
          <a:solidFill>
            <a:srgbClr val="D8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3337560"/>
            <a:ext cx="6185001" cy="310896"/>
          </a:xfrm>
          <a:prstGeom prst="roundRect">
            <a:avLst>
              <a:gd name="adj" fmla="val 50000"/>
            </a:avLst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331927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4F7A5C"/>
                </a:solidFill>
                <a:latin typeface="Consolas"/>
              </a:rPr>
              <a:t>0.89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32504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1" i="0">
                <a:solidFill>
                  <a:srgbClr val="1C2024"/>
                </a:solidFill>
                <a:latin typeface="Calibri"/>
              </a:rPr>
              <a:t>comments — distractor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050792"/>
            <a:ext cx="6949440" cy="310896"/>
          </a:xfrm>
          <a:prstGeom prst="roundRect">
            <a:avLst>
              <a:gd name="adj" fmla="val 50000"/>
            </a:avLst>
          </a:prstGeom>
          <a:solidFill>
            <a:srgbClr val="D8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46120" y="4050792"/>
            <a:ext cx="1806854" cy="310896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403250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A8443C"/>
                </a:solidFill>
                <a:latin typeface="Consolas"/>
              </a:rPr>
              <a:t>0.26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45736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300" b="1" i="0">
                <a:solidFill>
                  <a:srgbClr val="1C2024"/>
                </a:solidFill>
                <a:latin typeface="Calibri"/>
              </a:rPr>
              <a:t>Gene (partner, unseen)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4764024"/>
            <a:ext cx="6949440" cy="310896"/>
          </a:xfrm>
          <a:prstGeom prst="roundRect">
            <a:avLst>
              <a:gd name="adj" fmla="val 50000"/>
            </a:avLst>
          </a:prstGeom>
          <a:solidFill>
            <a:srgbClr val="D8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46120" y="4764024"/>
            <a:ext cx="694944" cy="310896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474573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A8443C"/>
                </a:solidFill>
                <a:latin typeface="Consolas"/>
              </a:rPr>
              <a:t>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5046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8B9198"/>
                </a:solidFill>
                <a:latin typeface="Consolas"/>
              </a:rP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50468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 i="0">
                <a:solidFill>
                  <a:srgbClr val="8B9198"/>
                </a:solidFill>
                <a:latin typeface="Consolas"/>
              </a:rPr>
              <a:t>100% of sampled values scored ≥ 0.50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98932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6062472"/>
            <a:ext cx="33284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1C2024"/>
                </a:solidFill>
                <a:latin typeface="Calibri"/>
              </a:rPr>
              <a:t>Cell-as-concept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300216"/>
            <a:ext cx="33284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B6168"/>
                </a:solidFill>
                <a:latin typeface="Calibri"/>
              </a:rPr>
              <a:t>value = the term  —  pheno = "scoliosis"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2272" y="598932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6864" y="6062472"/>
            <a:ext cx="33284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1C2024"/>
                </a:solidFill>
                <a:latin typeface="Calibri"/>
              </a:rPr>
              <a:t>Header-as-measurement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6300216"/>
            <a:ext cx="33284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B6168"/>
                </a:solidFill>
                <a:latin typeface="Calibri"/>
              </a:rPr>
              <a:t>value = quantity  —  10MWT = 8.4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75904" y="598932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6062472"/>
            <a:ext cx="33284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1C2024"/>
                </a:solidFill>
                <a:latin typeface="Calibri"/>
              </a:rPr>
              <a:t>Header-as-concept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6300216"/>
            <a:ext cx="33284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B6168"/>
                </a:solidFill>
                <a:latin typeface="Calibri"/>
              </a:rPr>
              <a:t>value = presence  —  cardiomyopathy = 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noFill/>
          <a:ln w="1778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1652B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 spc="120">
                <a:solidFill>
                  <a:srgbClr val="C1652B"/>
                </a:solidFill>
                <a:latin typeface="Consolas"/>
              </a:rPr>
              <a:t>HOW WELL DID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024"/>
                </a:solidFill>
                <a:latin typeface="Calibri"/>
              </a:rPr>
              <a:t>Seven models, end to end, 90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168"/>
                </a:solidFill>
                <a:latin typeface="Calibri"/>
              </a:rPr>
              <a:t>Row counts are adversarial / partner. Independent cross-check: Status produced exactly the 5 patients recorded as not-alive in the source — a full-population match.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31720"/>
          <a:ext cx="63093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914400"/>
                <a:gridCol w="2286000"/>
              </a:tblGrid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198"/>
                          </a:solidFill>
                          <a:latin typeface="Consolas"/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9198"/>
                          </a:solidFill>
                          <a:latin typeface="Consolas"/>
                        </a:rPr>
                        <a:t>Adv.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9198"/>
                          </a:solidFill>
                          <a:latin typeface="Consolas"/>
                        </a:rPr>
                        <a:t>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198"/>
                          </a:solidFill>
                          <a:latin typeface="Consolas"/>
                        </a:rPr>
                        <a:t>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024"/>
                          </a:solidFill>
                          <a:latin typeface="Calibri"/>
                        </a:rPr>
                        <a:t>Phenotype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168"/>
                          </a:solidFill>
                          <a:latin typeface="Calibri"/>
                        </a:rPr>
                        <a:t>negatives now captured (v2)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024"/>
                          </a:solidFill>
                          <a:latin typeface="Calibri"/>
                        </a:rPr>
                        <a:t>Diagnosis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168"/>
                          </a:solidFill>
                          <a:latin typeface="Calibri"/>
                        </a:rPr>
                        <a:t>free text → MONDO; CURIE → ORDO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024"/>
                          </a:solidFill>
                          <a:latin typeface="Calibri"/>
                        </a:rPr>
                        <a:t>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168"/>
                          </a:solidFill>
                          <a:latin typeface="Calibri"/>
                        </a:rPr>
                        <a:t>curated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024"/>
                          </a:solidFill>
                          <a:latin typeface="Calibri"/>
                        </a:rPr>
                        <a:t>Birthdate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168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024"/>
                          </a:solidFill>
                          <a:latin typeface="Calibri"/>
                        </a:rPr>
                        <a:t>Deathdate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168"/>
                          </a:solidFill>
                          <a:latin typeface="Calibri"/>
                        </a:rPr>
                        <a:t>only patients who died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024"/>
                          </a:solidFill>
                          <a:latin typeface="Calibri"/>
                        </a:rPr>
                        <a:t>Symptoms_onset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168"/>
                          </a:solidFill>
                          <a:latin typeface="Calibri"/>
                        </a:rPr>
                        <a:t>onset date ≠ record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024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C2024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168"/>
                          </a:solidFill>
                          <a:latin typeface="Calibri"/>
                        </a:rPr>
                        <a:t>alive / dead, Yes-No 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78040" y="2148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 spc="80">
                <a:solidFill>
                  <a:srgbClr val="8B9198"/>
                </a:solidFill>
                <a:latin typeface="Consolas"/>
              </a:rPr>
              <a:t>PHENOTYPE MAPPINGS, SPOT-CHECKED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487168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024"/>
                </a:solidFill>
                <a:latin typeface="Consolas"/>
              </a:rPr>
              <a:t>difficulty climbing stairs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48716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68"/>
                </a:solidFill>
                <a:latin typeface="Consolas"/>
              </a:rPr>
              <a:t>HP_0003551 Difficulty climbing stairs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35640" y="2468880"/>
            <a:ext cx="86868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4F7A5C"/>
                </a:solidFill>
                <a:latin typeface="Consolas"/>
              </a:rPr>
              <a:t>accurate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78040" y="2944368"/>
            <a:ext cx="4572000" cy="0"/>
          </a:xfrm>
          <a:prstGeom prst="line">
            <a:avLst/>
          </a:prstGeom>
          <a:ln w="9525">
            <a:solidFill>
              <a:srgbClr val="D8D4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78040" y="2999232"/>
            <a:ext cx="18745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024"/>
                </a:solidFill>
                <a:latin typeface="Consolas"/>
              </a:rPr>
              <a:t>scoliosis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999232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68"/>
                </a:solidFill>
                <a:latin typeface="Consolas"/>
              </a:rPr>
              <a:t>HP_0002650 Scoliosis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2980944"/>
            <a:ext cx="86868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4F7A5C"/>
                </a:solidFill>
                <a:latin typeface="Consolas"/>
              </a:rPr>
              <a:t>accurate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8040" y="3310128"/>
            <a:ext cx="4572000" cy="0"/>
          </a:xfrm>
          <a:prstGeom prst="line">
            <a:avLst/>
          </a:prstGeom>
          <a:ln w="9525">
            <a:solidFill>
              <a:srgbClr val="D8D4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78040" y="3364992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024"/>
                </a:solidFill>
                <a:latin typeface="Consolas"/>
              </a:rPr>
              <a:t>cardiomyopathy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364992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68"/>
                </a:solidFill>
                <a:latin typeface="Consolas"/>
              </a:rPr>
              <a:t>HP_0001638 Cardiomyopathy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35640" y="3346704"/>
            <a:ext cx="86868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4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4F7A5C"/>
                </a:solidFill>
                <a:latin typeface="Consolas"/>
              </a:rPr>
              <a:t>accurate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78040" y="3822192"/>
            <a:ext cx="4572000" cy="0"/>
          </a:xfrm>
          <a:prstGeom prst="line">
            <a:avLst/>
          </a:prstGeom>
          <a:ln w="9525">
            <a:solidFill>
              <a:srgbClr val="D8D4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78040" y="3877056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024"/>
                </a:solidFill>
                <a:latin typeface="Consolas"/>
              </a:rPr>
              <a:t>proximal muscle weakness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877056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68"/>
                </a:solidFill>
                <a:latin typeface="Consolas"/>
              </a:rPr>
              <a:t>HP_0008997 (upper limb)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35640" y="3858768"/>
            <a:ext cx="86868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C1652B"/>
                </a:solidFill>
                <a:latin typeface="Consolas"/>
              </a:rPr>
              <a:t>imprecise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78040" y="4334256"/>
            <a:ext cx="4572000" cy="0"/>
          </a:xfrm>
          <a:prstGeom prst="line">
            <a:avLst/>
          </a:prstGeom>
          <a:ln w="9525">
            <a:solidFill>
              <a:srgbClr val="D8D4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78040" y="4389120"/>
            <a:ext cx="18745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024"/>
                </a:solidFill>
                <a:latin typeface="Consolas"/>
              </a:rPr>
              <a:t>ophthalmoplegia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389120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68"/>
                </a:solidFill>
                <a:latin typeface="Consolas"/>
              </a:rPr>
              <a:t>HP_0000597 (paresis)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35640" y="4370832"/>
            <a:ext cx="86868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C1652B"/>
                </a:solidFill>
                <a:latin typeface="Consolas"/>
              </a:rPr>
              <a:t>imprecise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78040" y="4700016"/>
            <a:ext cx="4572000" cy="0"/>
          </a:xfrm>
          <a:prstGeom prst="line">
            <a:avLst/>
          </a:prstGeom>
          <a:ln w="9525">
            <a:solidFill>
              <a:srgbClr val="D8D4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78040" y="4754880"/>
            <a:ext cx="18745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024"/>
                </a:solidFill>
                <a:latin typeface="Consolas"/>
              </a:rPr>
              <a:t>foot drop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754880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68"/>
                </a:solidFill>
                <a:latin typeface="Consolas"/>
              </a:rPr>
              <a:t>score 0.42 — withheld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35640" y="4736592"/>
            <a:ext cx="86868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A8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A8443C"/>
                </a:solidFill>
                <a:latin typeface="Consolas"/>
              </a:rPr>
              <a:t>excluded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78040" y="5065776"/>
            <a:ext cx="4572000" cy="0"/>
          </a:xfrm>
          <a:prstGeom prst="line">
            <a:avLst/>
          </a:prstGeom>
          <a:ln w="9525">
            <a:solidFill>
              <a:srgbClr val="D8D4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78040" y="512064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024"/>
                </a:solidFill>
                <a:latin typeface="Consolas"/>
              </a:rPr>
              <a:t>calf pseudohypertrophy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512064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68"/>
                </a:solidFill>
                <a:latin typeface="Consolas"/>
              </a:rPr>
              <a:t>wrong term kind — withheld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35640" y="5102352"/>
            <a:ext cx="86868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A8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A8443C"/>
                </a:solidFill>
                <a:latin typeface="Consolas"/>
              </a:rPr>
              <a:t>excluded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78040" y="5577840"/>
            <a:ext cx="4572000" cy="0"/>
          </a:xfrm>
          <a:prstGeom prst="line">
            <a:avLst/>
          </a:prstGeom>
          <a:ln w="9525">
            <a:solidFill>
              <a:srgbClr val="D8D4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178040" y="5724144"/>
            <a:ext cx="45720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583387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 spc="80">
                <a:solidFill>
                  <a:srgbClr val="8B9198"/>
                </a:solidFill>
                <a:latin typeface="Consolas"/>
              </a:rPr>
              <a:t>FAILURE 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607161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C2024"/>
                </a:solidFill>
                <a:latin typeface="Calibri"/>
              </a:rPr>
              <a:t>Silent, not confident-wrong — imprecise and excluded rows are caught, never asserted.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noFill/>
          <a:ln w="1778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1652B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 spc="120">
                <a:solidFill>
                  <a:srgbClr val="C1652B"/>
                </a:solidFill>
                <a:latin typeface="Consolas"/>
              </a:rPr>
              <a:t>WHERE TO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2024"/>
                </a:solidFill>
                <a:latin typeface="Calibri"/>
              </a:rPr>
              <a:t>Close the loop, then close the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168"/>
                </a:solidFill>
                <a:latin typeface="Calibri"/>
              </a:rPr>
              <a:t>Every curator verdict is a signal, not just a gate: “imprecise” should retune the search guard and flag NMDO for a finer term; “unacceptable” is mostly the missing coded-vocabulary lane, not a bad heuristic.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17373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1C2024"/>
                </a:solidFill>
                <a:latin typeface="Calibri"/>
              </a:rPr>
              <a:t>raw spreadsheet</a:t>
            </a:r>
          </a:p>
          <a:p>
            <a:pPr algn="ctr"/>
            <a:r>
              <a:rPr sz="850">
                <a:solidFill>
                  <a:srgbClr val="8B9198"/>
                </a:solidFill>
                <a:latin typeface="Consolas"/>
              </a:rPr>
              <a:t>new registry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926080"/>
            <a:ext cx="17373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1C2024"/>
                </a:solidFill>
                <a:latin typeface="Calibri"/>
              </a:rPr>
              <a:t>triage + search</a:t>
            </a:r>
          </a:p>
          <a:p>
            <a:pPr algn="ctr"/>
            <a:r>
              <a:rPr sz="850">
                <a:solidFill>
                  <a:srgbClr val="8B9198"/>
                </a:solidFill>
                <a:latin typeface="Consolas"/>
              </a:rPr>
              <a:t>propose mappings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926080"/>
            <a:ext cx="19659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16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1C2024"/>
                </a:solidFill>
                <a:latin typeface="Calibri"/>
              </a:rPr>
              <a:t>curation workbook</a:t>
            </a:r>
          </a:p>
          <a:p>
            <a:pPr algn="ctr"/>
            <a:r>
              <a:rPr sz="850">
                <a:solidFill>
                  <a:srgbClr val="8B9198"/>
                </a:solidFill>
                <a:latin typeface="Consolas"/>
              </a:rPr>
              <a:t>accurate / imprecise / unacceptable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2926080"/>
            <a:ext cx="17373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8B9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1C2024"/>
                </a:solidFill>
                <a:latin typeface="Calibri"/>
              </a:rPr>
              <a:t>CARE-SM templates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3236976"/>
            <a:ext cx="320040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43400" y="3236976"/>
            <a:ext cx="320040" cy="0"/>
          </a:xfrm>
          <a:prstGeom prst="line">
            <a:avLst/>
          </a:prstGeom>
          <a:ln w="15875">
            <a:solidFill>
              <a:srgbClr val="8B91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29400" y="3236976"/>
            <a:ext cx="365760" cy="0"/>
          </a:xfrm>
          <a:prstGeom prst="line">
            <a:avLst/>
          </a:prstGeom>
          <a:ln w="15875">
            <a:solidFill>
              <a:srgbClr val="4F7A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0" y="2962656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>
                <a:solidFill>
                  <a:srgbClr val="4F7A5C"/>
                </a:solidFill>
                <a:latin typeface="Consolas"/>
              </a:rPr>
              <a:t>accurate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46420" y="3547872"/>
            <a:ext cx="0" cy="777240"/>
          </a:xfrm>
          <a:prstGeom prst="line">
            <a:avLst/>
          </a:prstGeom>
          <a:ln w="15875">
            <a:solidFill>
              <a:srgbClr val="C1652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474720" y="4325112"/>
            <a:ext cx="2171700" cy="0"/>
          </a:xfrm>
          <a:prstGeom prst="line">
            <a:avLst/>
          </a:prstGeom>
          <a:ln w="15875">
            <a:solidFill>
              <a:srgbClr val="C1652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74720" y="3547872"/>
            <a:ext cx="0" cy="777240"/>
          </a:xfrm>
          <a:prstGeom prst="line">
            <a:avLst/>
          </a:prstGeom>
          <a:ln w="15875">
            <a:solidFill>
              <a:srgbClr val="C1652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97480" y="403250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1">
                <a:solidFill>
                  <a:srgbClr val="C1652B"/>
                </a:solidFill>
                <a:latin typeface="Calibri"/>
              </a:rPr>
              <a:t>imprecise → sharpen NMDO term, retune guard thresholds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2335" y="3547872"/>
            <a:ext cx="0" cy="1554480"/>
          </a:xfrm>
          <a:prstGeom prst="line">
            <a:avLst/>
          </a:prstGeom>
          <a:ln w="15875">
            <a:solidFill>
              <a:srgbClr val="A8443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92063" y="43434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A8443C"/>
                </a:solidFill>
                <a:latin typeface="Calibri"/>
              </a:rPr>
              <a:t>unacceptable → needs the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A8443C"/>
                </a:solidFill>
                <a:latin typeface="Calibri"/>
              </a:rPr>
              <a:t>missing 4th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02352"/>
            <a:ext cx="5486400" cy="868680"/>
          </a:xfrm>
          <a:prstGeom prst="roundRect">
            <a:avLst>
              <a:gd name="adj" fmla="val 10000"/>
            </a:avLst>
          </a:prstGeom>
          <a:solidFill>
            <a:srgbClr val="F5F3EE"/>
          </a:solidFill>
          <a:ln w="16510">
            <a:solidFill>
              <a:srgbClr val="A8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2122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1C2024"/>
                </a:solidFill>
                <a:latin typeface="Calibri"/>
              </a:rPr>
              <a:t>4th route: coded-vocabulary lookup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4126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B6168"/>
                </a:solidFill>
                <a:latin typeface="Consolas"/>
              </a:rPr>
              <a:t>genes → HGNC, units → UO, drugs → ATC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6263640"/>
            <a:ext cx="164592" cy="164592"/>
          </a:xfrm>
          <a:prstGeom prst="round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63824" y="6236208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168"/>
                </a:solidFill>
                <a:latin typeface="Calibri"/>
              </a:rPr>
              <a:t>feeds forward to RDF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07024" y="6263640"/>
            <a:ext cx="164592" cy="164592"/>
          </a:xfrm>
          <a:prstGeom prst="roundRect">
            <a:avLst/>
          </a:prstGeom>
          <a:solidFill>
            <a:srgbClr val="C16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6236208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168"/>
                </a:solidFill>
                <a:latin typeface="Calibri"/>
              </a:rPr>
              <a:t>feeds back into the ontology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38944" y="6263640"/>
            <a:ext cx="164592" cy="164592"/>
          </a:xfrm>
          <a:prstGeom prst="roundRect">
            <a:avLst/>
          </a:prstGeom>
          <a:solidFill>
            <a:srgbClr val="A84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6236208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168"/>
                </a:solidFill>
                <a:latin typeface="Calibri"/>
              </a:rPr>
              <a:t>open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 spc="150">
                <a:solidFill>
                  <a:srgbClr val="C1652B"/>
                </a:solidFill>
                <a:latin typeface="Consola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C2024"/>
                </a:solidFill>
                <a:latin typeface="Calibri"/>
              </a:rPr>
              <a:t>Cheap checks first.</a:t>
            </a:r>
          </a:p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C2024"/>
                </a:solidFill>
                <a:latin typeface="Calibri"/>
              </a:rPr>
              <a:t>Search only when it earns trust.</a:t>
            </a:r>
          </a:p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C2024"/>
                </a:solidFill>
                <a:latin typeface="Calibri"/>
              </a:rPr>
              <a:t>A human closes the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3484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168"/>
                </a:solidFill>
                <a:latin typeface="Calibri"/>
              </a:rPr>
              <a:t>Seven CARE-SM models, 90 patients, end to end — verified against the actual v2 Toolkit, not just the CSV shape. Next: the coded-vocabulary lookup lane, then Examination.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8B9198"/>
                </a:solidFill>
                <a:latin typeface="Consolas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